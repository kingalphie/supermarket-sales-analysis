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57" r:id="rId9"/>
    <p:sldId id="264" r:id="rId10"/>
    <p:sldId id="278" r:id="rId11"/>
    <p:sldId id="258" r:id="rId12"/>
    <p:sldId id="279" r:id="rId13"/>
    <p:sldId id="259" r:id="rId14"/>
    <p:sldId id="280" r:id="rId15"/>
    <p:sldId id="260" r:id="rId16"/>
    <p:sldId id="281" r:id="rId17"/>
    <p:sldId id="261" r:id="rId18"/>
    <p:sldId id="282" r:id="rId19"/>
    <p:sldId id="268" r:id="rId20"/>
    <p:sldId id="262" r:id="rId21"/>
    <p:sldId id="283" r:id="rId22"/>
    <p:sldId id="263" r:id="rId23"/>
    <p:sldId id="284" r:id="rId24"/>
    <p:sldId id="265" r:id="rId25"/>
    <p:sldId id="285" r:id="rId26"/>
    <p:sldId id="266" r:id="rId27"/>
    <p:sldId id="286" r:id="rId28"/>
    <p:sldId id="270" r:id="rId29"/>
    <p:sldId id="269" r:id="rId30"/>
    <p:sldId id="267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94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1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66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41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7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79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81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6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1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30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228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895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1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76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373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1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19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2587-6945-0FB9-10D7-14C1AE991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25" y="0"/>
            <a:ext cx="9115425" cy="4329113"/>
          </a:xfrm>
        </p:spPr>
        <p:txBody>
          <a:bodyPr/>
          <a:lstStyle/>
          <a:p>
            <a:r>
              <a:rPr lang="en-US" sz="3200" dirty="0"/>
              <a:t>                </a:t>
            </a:r>
            <a:r>
              <a:rPr lang="en-US" sz="3200" b="1" dirty="0"/>
              <a:t>DATA ANALYSIS PROJECT</a:t>
            </a:r>
            <a:br>
              <a:rPr lang="en-US" sz="3200" dirty="0"/>
            </a:br>
            <a:br>
              <a:rPr lang="en-US" sz="3200" dirty="0"/>
            </a:br>
            <a:r>
              <a:rPr lang="en-US" sz="3200" b="1" dirty="0"/>
              <a:t>TITLE: SUPERMARKET SALES ANALYSIS</a:t>
            </a:r>
            <a:br>
              <a:rPr lang="en-US" sz="3200" b="1" dirty="0"/>
            </a:br>
            <a:r>
              <a:rPr lang="en-US" sz="3200" b="1" dirty="0"/>
              <a:t>BY: ALFRED DANIEL CHIBUZO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2387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4E05-0747-126C-723D-1E1890BE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b="1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111E1-5D1D-5E77-EBA5-A30166871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analysis </a:t>
            </a:r>
            <a:r>
              <a:rPr lang="en-US" dirty="0"/>
              <a:t>provides insights into supermarket sales report of a business over a one-year period(2024). The report covers three different branches of the business in terms of  customer types, gender, product line, unit price, quantity, payment and ratings.</a:t>
            </a:r>
          </a:p>
        </p:txBody>
      </p:sp>
    </p:spTree>
    <p:extLst>
      <p:ext uri="{BB962C8B-B14F-4D97-AF65-F5344CB8AC3E}">
        <p14:creationId xmlns:p14="http://schemas.microsoft.com/office/powerpoint/2010/main" val="38553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1EB3-3593-EF3A-D11F-6E4BE063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b="1" dirty="0"/>
              <a:t>AIM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1C437-09C3-0CB3-1355-08A2DA9AA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257300"/>
            <a:ext cx="10899778" cy="4991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AIM</a:t>
            </a:r>
          </a:p>
          <a:p>
            <a:r>
              <a:rPr lang="en-US" dirty="0"/>
              <a:t>The main aim of this analysis is to understand the overall performance of the business, the contribution of the various branches as well as the gap with a view to offer recommendation on areas of potential improvement.</a:t>
            </a:r>
          </a:p>
          <a:p>
            <a:pPr marL="0" indent="0">
              <a:buNone/>
            </a:pPr>
            <a:r>
              <a:rPr lang="en-US" sz="2800" b="1" dirty="0"/>
              <a:t>OBJECTIVE</a:t>
            </a:r>
          </a:p>
          <a:p>
            <a:r>
              <a:rPr lang="en-US" dirty="0"/>
              <a:t>To assess the total annual revenue generated </a:t>
            </a:r>
          </a:p>
          <a:p>
            <a:r>
              <a:rPr lang="en-US" dirty="0"/>
              <a:t>To determine the rating of business by customers</a:t>
            </a:r>
          </a:p>
          <a:p>
            <a:r>
              <a:rPr lang="en-US" dirty="0"/>
              <a:t>To analyze the performance of three branches and the gender spread</a:t>
            </a:r>
          </a:p>
          <a:p>
            <a:r>
              <a:rPr lang="en-US" dirty="0"/>
              <a:t>To assess the revenue generation of customer types and determine the contribution of various payment channels</a:t>
            </a:r>
          </a:p>
          <a:p>
            <a:r>
              <a:rPr lang="en-US" dirty="0"/>
              <a:t>To evaluate the monthly and quarterly sales performance </a:t>
            </a:r>
          </a:p>
          <a:p>
            <a:r>
              <a:rPr lang="en-US" dirty="0"/>
              <a:t>Compare the revenue generated by different product lines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1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E08C-BA05-8E19-337F-10C6BF00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</a:t>
            </a:r>
            <a:r>
              <a:rPr lang="en-US" b="1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BAC4-452A-D3AD-1EE1-9C82F698F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213" y="2052918"/>
            <a:ext cx="8349640" cy="419548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 dataset used for this analysis was sourced from Kaggle.com, a reservoir of a wide range of datasets for data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4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8A62-469E-19FD-0867-F42E2323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28600"/>
            <a:ext cx="9404723" cy="1624648"/>
          </a:xfrm>
        </p:spPr>
        <p:txBody>
          <a:bodyPr/>
          <a:lstStyle/>
          <a:p>
            <a:r>
              <a:rPr lang="en-US" dirty="0"/>
              <a:t> 							</a:t>
            </a:r>
            <a:r>
              <a:rPr lang="en-US" b="1" dirty="0"/>
              <a:t>RAW DATA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AE07E-8B68-4604-0CFD-62141E5FC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200150"/>
            <a:ext cx="10899778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0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91B2-AD5C-B804-0611-BF7C3FC3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0025"/>
            <a:ext cx="11044237" cy="1000125"/>
          </a:xfrm>
        </p:spPr>
        <p:txBody>
          <a:bodyPr/>
          <a:lstStyle/>
          <a:p>
            <a:r>
              <a:rPr lang="en-US" sz="4000" b="1" dirty="0"/>
              <a:t>DATA CLEANING AND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B8247-5E3E-0FF4-7AE1-68094C025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14464"/>
            <a:ext cx="10899778" cy="4833936"/>
          </a:xfrm>
        </p:spPr>
        <p:txBody>
          <a:bodyPr/>
          <a:lstStyle/>
          <a:p>
            <a:r>
              <a:rPr lang="en-US" dirty="0"/>
              <a:t>Altering Table: To be able to analyze sales performance of the supermarket, an additional column named ‘sales’ was added</a:t>
            </a:r>
          </a:p>
          <a:p>
            <a:r>
              <a:rPr lang="en-US" dirty="0"/>
              <a:t>Blank Removal: To minimize errors, I checked for and removed all blanks that are not relevant to focus of our analysis</a:t>
            </a:r>
          </a:p>
          <a:p>
            <a:r>
              <a:rPr lang="en-US" dirty="0"/>
              <a:t>Removing Duplicates: I checked for and remove any duplicate rows to ensure data integrity.</a:t>
            </a:r>
          </a:p>
          <a:p>
            <a:r>
              <a:rPr lang="en-US" dirty="0"/>
              <a:t>Correcting Inaccuracies: I verified the accuracy of the data and correct any inconsistencies or errors. </a:t>
            </a:r>
          </a:p>
          <a:p>
            <a:r>
              <a:rPr lang="en-US" dirty="0"/>
              <a:t>Data integrity: To ensure integrity of the data, I carried out similarly cleaning and data manipulations using excel function and </a:t>
            </a:r>
            <a:r>
              <a:rPr lang="en-US" dirty="0" err="1"/>
              <a:t>Postgrel</a:t>
            </a:r>
            <a:r>
              <a:rPr lang="en-US" dirty="0"/>
              <a:t> SQL to double check for any inconsistence and error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67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F4EC-7877-9401-C6FC-F5BC8021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98077" cy="1400530"/>
          </a:xfrm>
        </p:spPr>
        <p:txBody>
          <a:bodyPr/>
          <a:lstStyle/>
          <a:p>
            <a:r>
              <a:rPr lang="en-US" sz="4000" b="1" dirty="0"/>
              <a:t>     CLEANED AND TRANSFORMED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022C4A-4A09-569A-D626-E1D6C934D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185863"/>
            <a:ext cx="10826752" cy="521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6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6A20-615A-5470-0DD2-23402849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7188"/>
            <a:ext cx="9459912" cy="614363"/>
          </a:xfrm>
        </p:spPr>
        <p:txBody>
          <a:bodyPr/>
          <a:lstStyle/>
          <a:p>
            <a:r>
              <a:rPr lang="en-US" sz="3200" dirty="0"/>
              <a:t>          </a:t>
            </a:r>
            <a:r>
              <a:rPr lang="en-US" sz="3200" b="1" dirty="0"/>
              <a:t>EXECUTIVE SUMMARY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F4CB1F-CB46-3300-D64D-E05A1915F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85863"/>
            <a:ext cx="11258550" cy="54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1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FB26D-78A7-7991-7BDA-3EF98019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57163"/>
            <a:ext cx="9404723" cy="1696085"/>
          </a:xfrm>
        </p:spPr>
        <p:txBody>
          <a:bodyPr/>
          <a:lstStyle/>
          <a:p>
            <a:r>
              <a:rPr lang="en-US" dirty="0"/>
              <a:t>   					</a:t>
            </a:r>
            <a:r>
              <a:rPr lang="en-US" b="1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765D-9FA0-959F-7CBE-127A89C0B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4" y="1114426"/>
            <a:ext cx="11045826" cy="54006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Key Highlights:</a:t>
            </a:r>
          </a:p>
          <a:p>
            <a:r>
              <a:rPr lang="en-US" dirty="0"/>
              <a:t>Total sales generated as analyzed between January to December 2024 was $942,540 with highest sales seen in April($132,083) and lowest in August($19,440) while the overall rating was 34,790 . </a:t>
            </a:r>
          </a:p>
          <a:p>
            <a:r>
              <a:rPr lang="en-US" dirty="0"/>
              <a:t>Brooklyn branch outperform other branches by delivering sales of $319,705 compared with Queens and Manhattan branches at $312,842 and 309,996 respectively</a:t>
            </a:r>
          </a:p>
          <a:p>
            <a:r>
              <a:rPr lang="en-US" dirty="0"/>
              <a:t>As analyzed the supermarket was patronized by slightly more females(52%) than males(48%)</a:t>
            </a:r>
          </a:p>
          <a:p>
            <a:r>
              <a:rPr lang="en-US" dirty="0"/>
              <a:t>Majority of sales was contributed by the Normal customer types($506,176) compared with Member customer types($436,368)</a:t>
            </a:r>
          </a:p>
          <a:p>
            <a:r>
              <a:rPr lang="en-US" dirty="0"/>
              <a:t>The predominant method of payment was </a:t>
            </a:r>
            <a:r>
              <a:rPr lang="en-US" dirty="0" err="1"/>
              <a:t>Ewallet</a:t>
            </a:r>
            <a:r>
              <a:rPr lang="en-US" dirty="0"/>
              <a:t>($326,691) followed by Credit card($311,230) and Cash($304,622) in that order</a:t>
            </a:r>
          </a:p>
          <a:p>
            <a:r>
              <a:rPr lang="en-US" dirty="0"/>
              <a:t>Home &amp; Lifestyle product line recorded the highest sales($197,260) while Fashion &amp; Accessories had the lowest($101,844)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3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159A-F8E8-59BD-FE48-1A899461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CF7B1-02A0-8F10-7F28-08CE74DC0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75" y="2714625"/>
            <a:ext cx="9029700" cy="3533774"/>
          </a:xfrm>
        </p:spPr>
        <p:txBody>
          <a:bodyPr>
            <a:normAutofit/>
          </a:bodyPr>
          <a:lstStyle/>
          <a:p>
            <a:r>
              <a:rPr lang="en-US" sz="4000" b="1" dirty="0"/>
              <a:t>DEEP DIVE INTO INSIGHTS</a:t>
            </a:r>
          </a:p>
        </p:txBody>
      </p:sp>
    </p:spTree>
    <p:extLst>
      <p:ext uri="{BB962C8B-B14F-4D97-AF65-F5344CB8AC3E}">
        <p14:creationId xmlns:p14="http://schemas.microsoft.com/office/powerpoint/2010/main" val="2233016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7856-9DEB-4322-46B5-3D1E3E50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57175"/>
            <a:ext cx="9404723" cy="642938"/>
          </a:xfrm>
        </p:spPr>
        <p:txBody>
          <a:bodyPr/>
          <a:lstStyle/>
          <a:p>
            <a:r>
              <a:rPr lang="en-US" sz="4000" dirty="0"/>
              <a:t>                     </a:t>
            </a:r>
            <a:r>
              <a:rPr lang="en-US" sz="3200" b="1" dirty="0"/>
              <a:t>PERFORMANCE BY BRANCH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3C7C4-458B-A5A4-D3D8-08E6B3B5B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8712"/>
            <a:ext cx="11087100" cy="54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4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9A67-1E80-2915-94E0-5CBB3905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52718"/>
            <a:ext cx="10413395" cy="761720"/>
          </a:xfrm>
        </p:spPr>
        <p:txBody>
          <a:bodyPr/>
          <a:lstStyle/>
          <a:p>
            <a:r>
              <a:rPr lang="en-US" sz="4000" b="1" dirty="0"/>
              <a:t>PERFORMANCE BY BRANCH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81473-561E-919E-8F27-1CD0FEFE9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52918"/>
            <a:ext cx="10827733" cy="4195481"/>
          </a:xfrm>
        </p:spPr>
        <p:txBody>
          <a:bodyPr>
            <a:normAutofit/>
          </a:bodyPr>
          <a:lstStyle/>
          <a:p>
            <a:r>
              <a:rPr lang="en-US" dirty="0"/>
              <a:t>The performance of the three Supermarket branches Brooklyn, Queens and Manhattan were $319,705, $312,842 and $309,996 respectively</a:t>
            </a:r>
          </a:p>
          <a:p>
            <a:r>
              <a:rPr lang="en-US" dirty="0"/>
              <a:t>As observed Brooklyn branch delivered superior performance compared with Queens and Manhattan branches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Carry out further analysis of drivers of performance at Brooklyn and identify opportunity for growth at the other branches</a:t>
            </a:r>
          </a:p>
          <a:p>
            <a:r>
              <a:rPr lang="en-US" dirty="0"/>
              <a:t>Identify barriers for growth at the other branches and develop strategy to overcome them.</a:t>
            </a:r>
          </a:p>
          <a:p>
            <a:r>
              <a:rPr lang="en-US" dirty="0"/>
              <a:t>Increase focus on Queens and Manhattan branches and where necessary deploy resources accordingly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2B04-A6A2-F24A-51CB-9FFBF757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5737"/>
            <a:ext cx="9404723" cy="742951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sz="3200" dirty="0"/>
              <a:t> </a:t>
            </a:r>
            <a:r>
              <a:rPr lang="en-US" sz="3200" b="1" dirty="0"/>
              <a:t>GENDER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A601A2-EF50-F59F-7BD4-4F5B8A9D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47762"/>
            <a:ext cx="5767387" cy="5410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B7A201-0253-C834-A4DA-04F85AF2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147762"/>
            <a:ext cx="5529264" cy="54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1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0604-E428-96E3-8D8D-65DDAB0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      </a:t>
            </a:r>
            <a:r>
              <a:rPr lang="en-US" sz="4000" b="1" dirty="0"/>
              <a:t>GENDER PERFORMANCE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9B9D-1F61-C9EF-4FB0-E297C602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 sales recorded by Female and Male was $490,169(52%) and $452,375(48%) respectively </a:t>
            </a:r>
          </a:p>
          <a:p>
            <a:r>
              <a:rPr lang="en-US" dirty="0"/>
              <a:t>This shows that more female patronize the Supermarket than males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Ensure constant availability of Home &amp; Lifestyle, and Health &amp; Beauty product lines to drive sales</a:t>
            </a:r>
          </a:p>
          <a:p>
            <a:r>
              <a:rPr lang="en-US" dirty="0"/>
              <a:t>Create incentive through Membership to encourage more purchase of products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37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5DD8-0DF4-7748-6A1F-6FCDC298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00025"/>
            <a:ext cx="9404723" cy="657225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sz="3200" b="1" dirty="0"/>
              <a:t>CUSTOMER SALES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6407D-6B70-F3CE-7065-FDD8A61E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171575"/>
            <a:ext cx="11387137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3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39BF-DE73-8436-EB37-5BBCC9D9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2718"/>
            <a:ext cx="10772775" cy="1400530"/>
          </a:xfrm>
        </p:spPr>
        <p:txBody>
          <a:bodyPr/>
          <a:lstStyle/>
          <a:p>
            <a:r>
              <a:rPr lang="en-US" sz="4000" b="1" dirty="0"/>
              <a:t>CUSTOMER SALES PERFORMANCE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E45F3-8A97-4EFF-A172-126633ECF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analyzed the report showed sales performance of $506,176 and $436,368 for Normal and Member customer types.</a:t>
            </a:r>
          </a:p>
          <a:p>
            <a:r>
              <a:rPr lang="en-US" dirty="0"/>
              <a:t>This indicates that most of the sales were contributed by the Normal customers.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Drive targeted campaign to attract and recruit more customers in the membership category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5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9F1E-2A6B-638C-2000-7EA023F8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42876"/>
            <a:ext cx="9404723" cy="657224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sz="3200" b="1" dirty="0"/>
              <a:t>SALES BY PAYMENT METHOD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347D6D-F2AF-6851-3B28-672D8AD0F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75" y="942976"/>
            <a:ext cx="11387137" cy="544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14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9B3D-432F-BE2E-360F-A9CD5C29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  SALES BY PAYMENT METHOD 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ED7B0-A423-8B45-6252-2BB08F0C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payment methods were deployed across the branches namely: </a:t>
            </a:r>
            <a:r>
              <a:rPr lang="en-US" dirty="0" err="1"/>
              <a:t>Ewallet</a:t>
            </a:r>
            <a:r>
              <a:rPr lang="en-US" dirty="0"/>
              <a:t>, Credit card and Cash</a:t>
            </a:r>
          </a:p>
          <a:p>
            <a:r>
              <a:rPr lang="en-US" dirty="0"/>
              <a:t>From the analyzed report, </a:t>
            </a:r>
            <a:r>
              <a:rPr lang="en-US" dirty="0" err="1"/>
              <a:t>Ewallet</a:t>
            </a:r>
            <a:r>
              <a:rPr lang="en-US" dirty="0"/>
              <a:t> recorded the highest transaction while Cash had the least transactions.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Maintain Status quo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26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C280-D515-4DEE-8600-D7D055EE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14300"/>
            <a:ext cx="9404723" cy="1343025"/>
          </a:xfrm>
        </p:spPr>
        <p:txBody>
          <a:bodyPr/>
          <a:lstStyle/>
          <a:p>
            <a:r>
              <a:rPr lang="en-US" dirty="0"/>
              <a:t>          </a:t>
            </a:r>
            <a:r>
              <a:rPr lang="en-US" sz="3200" b="1" dirty="0"/>
              <a:t>MONTHLY SALES PERFORMANCE </a:t>
            </a:r>
            <a:br>
              <a:rPr lang="en-US" sz="3200" b="1" dirty="0"/>
            </a:br>
            <a:r>
              <a:rPr lang="en-US" sz="3200" b="1" dirty="0"/>
              <a:t>	                       BY QUANTITY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78A94C-4CE8-BE59-857F-140D36589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614488"/>
            <a:ext cx="10826752" cy="48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81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100E-44C7-ECA0-C848-B5B8AE33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71450"/>
            <a:ext cx="9404723" cy="1128713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sz="3200" b="1" dirty="0"/>
              <a:t>MONTHLY SALES PERFORMANCE      	                     	                               BY REVENUE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1E6E55-BA6D-6DBC-57CB-FB449D2B7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2" y="1300163"/>
            <a:ext cx="10955338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68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E9C46-B4AC-815B-685F-603E97E8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326689" cy="1400530"/>
          </a:xfrm>
        </p:spPr>
        <p:txBody>
          <a:bodyPr/>
          <a:lstStyle/>
          <a:p>
            <a:r>
              <a:rPr lang="en-US" sz="4000" dirty="0"/>
              <a:t>      </a:t>
            </a:r>
            <a:r>
              <a:rPr lang="en-US" sz="4000" b="1" dirty="0"/>
              <a:t>MONTHLY SALES PERFORMANCE   </a:t>
            </a:r>
            <a:br>
              <a:rPr lang="en-US" sz="4000" b="1" dirty="0"/>
            </a:br>
            <a:r>
              <a:rPr lang="en-US" sz="4000" b="1" dirty="0"/>
              <a:t>           QUNATITY AND REVENUE   </a:t>
            </a:r>
            <a:r>
              <a:rPr lang="en-US" dirty="0"/>
              <a:t>	                     	    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7DE9-8F35-D97A-8C8F-4AEC3BFF5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6" y="1853248"/>
            <a:ext cx="11272838" cy="43951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report analyzed showed the highest quantity of all products sold was in December while the least sold was in August</a:t>
            </a:r>
          </a:p>
          <a:p>
            <a:r>
              <a:rPr lang="en-US" dirty="0"/>
              <a:t>In a similar vein, the highest revenue generated of all products sold was in April while the least generated revenue was in August</a:t>
            </a:r>
          </a:p>
          <a:p>
            <a:r>
              <a:rPr lang="en-US" dirty="0"/>
              <a:t>Although December had the highest quantity of products sold, the revenue generated was lower compared with the month of April with highest revenue generated. Major drivers to these are Health &amp; Beauty, Food &amp; Beverage, and Fashion &amp; Accessories Products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Protect and defend the major revenue drivers like Home &amp; Lifestyle, Health &amp; Beauty, and Sports &amp; Travel product lines.</a:t>
            </a:r>
          </a:p>
          <a:p>
            <a:r>
              <a:rPr lang="en-US" dirty="0"/>
              <a:t>Targeted product campaign around Electronics, Food &amp; Beverage, and Fashion &amp; Accessories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26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9BA-33CC-98AD-45F6-19AD8E18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42875"/>
            <a:ext cx="9404723" cy="914400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sz="3200" b="1" dirty="0"/>
              <a:t>CUSTOMER RATING BY GENDER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CCC11C-ACF7-8F65-01E8-F0E7C0792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775" y="1057275"/>
            <a:ext cx="11215688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30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74E0-6138-6BF3-ED3D-48E30D11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CUSTOMER RATING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807AB-1FA1-E97B-3282-5BC953928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total rating analyzed for male was 16,864  while that of female was 17,920 showing that more females provided feedbacks compared to males.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Encourage more males to share feedbacks</a:t>
            </a:r>
          </a:p>
        </p:txBody>
      </p:sp>
    </p:spTree>
    <p:extLst>
      <p:ext uri="{BB962C8B-B14F-4D97-AF65-F5344CB8AC3E}">
        <p14:creationId xmlns:p14="http://schemas.microsoft.com/office/powerpoint/2010/main" val="29179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E24A-9FC1-B2EB-F7BF-AE62D689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42900"/>
            <a:ext cx="9404723" cy="900113"/>
          </a:xfrm>
        </p:spPr>
        <p:txBody>
          <a:bodyPr/>
          <a:lstStyle/>
          <a:p>
            <a:r>
              <a:rPr lang="en-US" sz="3200" dirty="0"/>
              <a:t>                  </a:t>
            </a:r>
            <a:r>
              <a:rPr lang="en-US" sz="3200" b="1" dirty="0"/>
              <a:t>QUARTERLY SALES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F0D36-5913-3912-6534-4CED41399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775" y="1243013"/>
            <a:ext cx="10915649" cy="52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2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9474-77A5-EAB0-6504-9DBCAAC8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r>
              <a:rPr lang="en-US" b="1" dirty="0"/>
              <a:t>QUARTERLY SALES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F9EE-569B-9B05-070F-A71B2557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Quarter 1(Q1)  recorded the highest sales followed by Q4, Q2 and Q3 respectively.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Create a product campaign at the beginning of Q3 to drive brand awareness and improve sales</a:t>
            </a:r>
          </a:p>
        </p:txBody>
      </p:sp>
    </p:spTree>
    <p:extLst>
      <p:ext uri="{BB962C8B-B14F-4D97-AF65-F5344CB8AC3E}">
        <p14:creationId xmlns:p14="http://schemas.microsoft.com/office/powerpoint/2010/main" val="3633209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5EE4-3418-1B9D-8642-35EC7B19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8857"/>
          </a:xfrm>
        </p:spPr>
        <p:txBody>
          <a:bodyPr/>
          <a:lstStyle/>
          <a:p>
            <a:r>
              <a:rPr lang="en-US" sz="3200" dirty="0"/>
              <a:t>				 </a:t>
            </a:r>
            <a:r>
              <a:rPr lang="en-US" sz="3200" b="1" dirty="0"/>
              <a:t>PRODUCT SALES PERFORMANCE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251866-E62D-ED82-879E-615E96178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171575"/>
            <a:ext cx="10941052" cy="523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77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C440-9D6C-D67A-B83E-124EDD9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 SALES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CE1F-CA7D-39E1-0366-77B1BF89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00164"/>
            <a:ext cx="10726739" cy="4948236"/>
          </a:xfrm>
        </p:spPr>
        <p:txBody>
          <a:bodyPr/>
          <a:lstStyle/>
          <a:p>
            <a:r>
              <a:rPr lang="en-US" dirty="0"/>
              <a:t>Home &amp; Lifestyle product demonstrated a strong sales performance with highest revenue of $197,260. On the other hand, Fashion and accessories had the lowest revenue of $101,844</a:t>
            </a:r>
          </a:p>
          <a:p>
            <a:r>
              <a:rPr lang="en-US" dirty="0"/>
              <a:t>Recommendation</a:t>
            </a:r>
          </a:p>
          <a:p>
            <a:r>
              <a:rPr lang="en-US" dirty="0"/>
              <a:t>Drive engagement and campaign on Fashion and Accessories while maintaining focus on the other products</a:t>
            </a:r>
          </a:p>
          <a:p>
            <a:r>
              <a:rPr lang="en-US" dirty="0"/>
              <a:t>Consider discount offer on Fashion and Accessories to stimulate customers interest </a:t>
            </a:r>
            <a:r>
              <a:rPr lang="en-US" dirty="0" err="1"/>
              <a:t>e.g</a:t>
            </a:r>
            <a:r>
              <a:rPr lang="en-US" dirty="0"/>
              <a:t> buy 5 items get 1 free. Targeting female clients.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689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DA81-34D4-B245-2F5A-BD06D62D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14301"/>
            <a:ext cx="9404723" cy="914400"/>
          </a:xfrm>
        </p:spPr>
        <p:txBody>
          <a:bodyPr/>
          <a:lstStyle/>
          <a:p>
            <a:r>
              <a:rPr lang="en-US" dirty="0"/>
              <a:t>             </a:t>
            </a:r>
            <a:r>
              <a:rPr lang="en-US" sz="3200" b="1" dirty="0"/>
              <a:t>PRODUCT 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2A7646-EBD4-19E9-F171-07A07E9E2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200149"/>
            <a:ext cx="10998201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13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BE22-AC3F-7745-CDC3-7F00BB34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28588"/>
            <a:ext cx="9726614" cy="1085850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sz="3200" dirty="0"/>
              <a:t>    			 REVENUE AND QUANTITY SOLD   	   						            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E15E14-603D-BA62-928E-D6FEA9FF3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638" y="1400175"/>
            <a:ext cx="11172825" cy="51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10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B1E8-B124-DF94-8E0C-9A9E8359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85750"/>
            <a:ext cx="10741027" cy="914400"/>
          </a:xfrm>
        </p:spPr>
        <p:txBody>
          <a:bodyPr/>
          <a:lstStyle/>
          <a:p>
            <a:r>
              <a:rPr lang="en-US" sz="4000" b="1" dirty="0"/>
              <a:t>CONCLUSION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31F27-6D62-045D-4A40-3590DEAB0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00164"/>
            <a:ext cx="11012489" cy="51006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Supermarket sales data analyzed shows insightful information on areas of strength as well as areas of improvement.</a:t>
            </a:r>
          </a:p>
          <a:p>
            <a:r>
              <a:rPr lang="en-US" dirty="0"/>
              <a:t>Highest sales was seen in April($132,083) and lowest in August($19,440) while the overall rating was 34,790 . </a:t>
            </a:r>
          </a:p>
          <a:p>
            <a:pPr marL="0" indent="0">
              <a:buNone/>
            </a:pPr>
            <a:r>
              <a:rPr lang="en-US" b="1" dirty="0"/>
              <a:t>Recommendation</a:t>
            </a:r>
          </a:p>
          <a:p>
            <a:r>
              <a:rPr lang="en-US" dirty="0"/>
              <a:t>Protect and defend the major revenue drivers like Home &amp; Lifestyle, Health &amp; Beauty, and Sports &amp; Travel product lines.</a:t>
            </a:r>
          </a:p>
          <a:p>
            <a:r>
              <a:rPr lang="en-US" dirty="0"/>
              <a:t>Ensure constant availability of Home &amp; Lifestyle, and Health &amp; Beauty product lines to drive sales</a:t>
            </a:r>
          </a:p>
          <a:p>
            <a:r>
              <a:rPr lang="en-US" dirty="0"/>
              <a:t>Targeted product campaign around Electronics, Food &amp; Beverage, and Fashion &amp; Accessories Products</a:t>
            </a:r>
          </a:p>
          <a:p>
            <a:r>
              <a:rPr lang="en-US" dirty="0"/>
              <a:t>Drive engagement and campaign on Fashion and Accessories while maintaining focus on the other products</a:t>
            </a:r>
          </a:p>
          <a:p>
            <a:r>
              <a:rPr lang="en-US" dirty="0"/>
              <a:t>Consider discount offer on Fashion and Accessories to stimulate customers interest </a:t>
            </a:r>
            <a:r>
              <a:rPr lang="en-US" dirty="0" err="1"/>
              <a:t>e.g</a:t>
            </a:r>
            <a:r>
              <a:rPr lang="en-US" dirty="0"/>
              <a:t> buy 5 items get 1 free. Targeting female clients.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90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BD9B-E573-A949-04F9-A275E5A9B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825" y="971550"/>
            <a:ext cx="8986838" cy="527684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8000" dirty="0"/>
              <a:t>		THANK YOU</a:t>
            </a:r>
          </a:p>
        </p:txBody>
      </p:sp>
    </p:spTree>
    <p:extLst>
      <p:ext uri="{BB962C8B-B14F-4D97-AF65-F5344CB8AC3E}">
        <p14:creationId xmlns:p14="http://schemas.microsoft.com/office/powerpoint/2010/main" val="4203263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19801</TotalTime>
  <Words>1247</Words>
  <Application>Microsoft Office PowerPoint</Application>
  <PresentationFormat>Widescreen</PresentationFormat>
  <Paragraphs>110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Century Gothic</vt:lpstr>
      <vt:lpstr>Wingdings 3</vt:lpstr>
      <vt:lpstr>Ion</vt:lpstr>
      <vt:lpstr>                DATA ANALYSIS PROJECT  TITLE: SUPERMARKET SALES ANALYSIS BY: ALFRED DANIEL CHIBUZO   </vt:lpstr>
      <vt:lpstr>               ANALYSIS OVERVIEW</vt:lpstr>
      <vt:lpstr>               AIM AND OBJECTIVE</vt:lpstr>
      <vt:lpstr>                     DATA SOURCE</vt:lpstr>
      <vt:lpstr>        RAW DATA </vt:lpstr>
      <vt:lpstr>DATA CLEANING AND TRANSFORMATION</vt:lpstr>
      <vt:lpstr>     CLEANED AND TRANSFORMED DATA</vt:lpstr>
      <vt:lpstr>          EXECUTIVE SUMMARY DASHBOARD</vt:lpstr>
      <vt:lpstr>        Executive Summary</vt:lpstr>
      <vt:lpstr>         </vt:lpstr>
      <vt:lpstr>                     PERFORMANCE BY BRANCH</vt:lpstr>
      <vt:lpstr>PERFORMANCE BY BRANCH CONTINUE</vt:lpstr>
      <vt:lpstr>                   GENDER PERFORMANCE</vt:lpstr>
      <vt:lpstr>      GENDER PERFORMANCE CONTD</vt:lpstr>
      <vt:lpstr>             CUSTOMER SALES PERFORMANCE</vt:lpstr>
      <vt:lpstr>CUSTOMER SALES PERFORMANCE CONTD</vt:lpstr>
      <vt:lpstr>                 SALES BY PAYMENT METHOD</vt:lpstr>
      <vt:lpstr>  SALES BY PAYMENT METHOD CONTD</vt:lpstr>
      <vt:lpstr>          MONTHLY SALES PERFORMANCE                          BY QUANTITY</vt:lpstr>
      <vt:lpstr>             MONTHLY SALES PERFORMANCE                                                            BY REVENUE</vt:lpstr>
      <vt:lpstr>      MONTHLY SALES PERFORMANCE               QUNATITY AND REVENUE                                                         </vt:lpstr>
      <vt:lpstr>                 CUSTOMER RATING BY GENDER</vt:lpstr>
      <vt:lpstr>     CUSTOMER RATING BY GENDER</vt:lpstr>
      <vt:lpstr>                  QUARTERLY SALES PERFORMANCE</vt:lpstr>
      <vt:lpstr>   QUARTERLY SALES PERFORMANCE</vt:lpstr>
      <vt:lpstr>     PRODUCT SALES PERFORMANCE </vt:lpstr>
      <vt:lpstr>PRODUCT SALES PERFORMANCE </vt:lpstr>
      <vt:lpstr>             PRODUCT  PERFORMANCE</vt:lpstr>
      <vt:lpstr>         REVENUE AND QUANTITY SOLD                          COMPARISON</vt:lpstr>
      <vt:lpstr>CONCLUSION AND 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Innocent Ikpah</dc:creator>
  <cp:lastModifiedBy>user</cp:lastModifiedBy>
  <cp:revision>12</cp:revision>
  <dcterms:created xsi:type="dcterms:W3CDTF">2025-12-07T18:09:09Z</dcterms:created>
  <dcterms:modified xsi:type="dcterms:W3CDTF">2026-05-15T14:53:19Z</dcterms:modified>
</cp:coreProperties>
</file>